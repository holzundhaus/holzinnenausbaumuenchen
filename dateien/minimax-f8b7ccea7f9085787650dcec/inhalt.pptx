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muenchen.wordpress.com/2026/10/22/innentueren-massivholz-muenchen-zarge-tuerblatt-beschlag/" TargetMode="External"/><Relationship Id="rId3" Type="http://schemas.openxmlformats.org/officeDocument/2006/relationships/hyperlink" Target="https://holzundhaus.github.io/holzinnenausbaumuenchen/dateien/minimax-f8b7ccea7f9085787650dce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Innentüren aus Massivholz in München: Zarge, Türblatt und Beschlag richtig planen · Erklärende Präsentation</a:t>
            </a:r>
          </a:p>
        </p:txBody>
      </p:sp>
      <p:sp>
        <p:nvSpPr>
          <p:cNvPr id="3" name="Content Placeholder 2"/>
          <p:cNvSpPr>
            <a:spLocks noGrp="1"/>
          </p:cNvSpPr>
          <p:nvPr>
            <p:ph idx="1"/>
          </p:nvPr>
        </p:nvSpPr>
        <p:spPr/>
        <p:txBody>
          <a:bodyPr/>
          <a:lstStyle/>
          <a:p>
            <a:r>
              <a:t>Überblick: Eine Innentür aus Massivholz wird erst dann planbar, wenn Zarge, Türblatt, Beschlag und die angrenzenden Bauteile gemeinsam betrachtet werden. Der Beitrag erklärt, welche Fragen vor dem Angebot geklärt werden sollten und worauf bei Aufmaß, Anschluss und Montage zu achten ist. Für eine konkrete Ausführung bleibt das Ergebnis der Prüfung durch einen Fachbetrieb maßgeblich. Weitere Grundlagen zur [Planung von Innentüren aus Massivholz in München] finden sich im thematisch passenden Überblick.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Zarge und Türblatt getrennt geplant werden</a:t>
            </a:r>
          </a:p>
        </p:txBody>
      </p:sp>
      <p:sp>
        <p:nvSpPr>
          <p:cNvPr id="3" name="Content Placeholder 2"/>
          <p:cNvSpPr>
            <a:spLocks noGrp="1"/>
          </p:cNvSpPr>
          <p:nvPr>
            <p:ph idx="1"/>
          </p:nvPr>
        </p:nvSpPr>
        <p:spPr/>
        <p:txBody>
          <a:bodyPr/>
          <a:lstStyle/>
          <a:p>
            <a:pPr>
              <a:defRPr sz="1800"/>
            </a:pPr>
            <a:r>
              <a:t>Die Zarge ist der feste Rahmen in der Wand. Sie trägt das Türblatt, nimmt die Bänder auf und bildet den Abschluss zur Wandverkleidung. Das Türblatt ist das bewegliche Element, das in der Zarge schließt. Seine Bauart beeinflusst Optik, Oberfläche, Gewicht und die Schalldämmung. Für die Zarge stehen deshalb Wandaufbau, Aufbauhöhe, Anschluss an Sockelleiste und Bodenbelag im Mittelpunkt. Beim Türblatt zählen Holzart, Aufbau, Abmessungen und Oberflächenbehandlung. Der Beschlag muss zu beiden Teilen passen: Bänder, Schloss, Drücker und eine mögliche Dichtung dürfen nicht unabhängig voneinander ausgewählt werden.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Zargenart zum Bauteil passt</a:t>
            </a:r>
          </a:p>
        </p:txBody>
      </p:sp>
      <p:sp>
        <p:nvSpPr>
          <p:cNvPr id="3" name="Content Placeholder 2"/>
          <p:cNvSpPr>
            <a:spLocks noGrp="1"/>
          </p:cNvSpPr>
          <p:nvPr>
            <p:ph idx="1"/>
          </p:nvPr>
        </p:nvSpPr>
        <p:spPr/>
        <p:txBody>
          <a:bodyPr/>
          <a:lstStyle/>
          <a:p>
            <a:pPr>
              <a:defRPr sz="1800"/>
            </a:pPr>
            <a:r>
              <a:t>Eine Massivholzzarge besteht üblicherweise aus zwei seitlichen Pfosten und einem Querteil, dem Kämpfer. Diese Teile werden verdeckt gedübelt oder verleimt und anschließend in der Wandöffnung ausgerichtet. Die Umfassungszarge umschließt den Wandaufbau und kann unebene Kanten sowie Toleranzen der Verkleidung verdecken. Die Futterzarge liegt in der Öffnung, während die Wand bündig anschließt. Die Blockzarge ist sichtbar und eignet sich für stärkere Aufbauten oder als gestalterisches Element. Welche Variante sinnvoll ist, hängt vom konkreten Wandaufbau ab. Wichtig ist außerdem, dass die Zarge das Gewicht des Türblatts sicher ableiten und eine pas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Zargenart zum Bauteil passt</a:t>
            </a:r>
          </a:p>
        </p:txBody>
      </p:sp>
      <p:sp>
        <p:nvSpPr>
          <p:cNvPr id="3" name="Content Placeholder 2"/>
          <p:cNvSpPr>
            <a:spLocks noGrp="1"/>
          </p:cNvSpPr>
          <p:nvPr>
            <p:ph idx="1"/>
          </p:nvPr>
        </p:nvSpPr>
        <p:spPr/>
        <p:txBody>
          <a:bodyPr/>
          <a:lstStyle/>
          <a:p>
            <a:pPr>
              <a:defRPr sz="1800"/>
            </a:pPr>
            <a:r>
              <a:t>sende Dichtung aufnehmen kann.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Türblatt und die Feuchtebewegung</a:t>
            </a:r>
          </a:p>
        </p:txBody>
      </p:sp>
      <p:sp>
        <p:nvSpPr>
          <p:cNvPr id="3" name="Content Placeholder 2"/>
          <p:cNvSpPr>
            <a:spLocks noGrp="1"/>
          </p:cNvSpPr>
          <p:nvPr>
            <p:ph idx="1"/>
          </p:nvPr>
        </p:nvSpPr>
        <p:spPr/>
        <p:txBody>
          <a:bodyPr/>
          <a:lstStyle/>
          <a:p>
            <a:pPr>
              <a:defRPr sz="1800"/>
            </a:pPr>
            <a:r>
              <a:t>Ein massivholz-Türblatt besitzt eine durchgehende Holzstruktur über die gesamte Blattdicke. Ein furniertes Türblatt besteht dagegen aus einem Trägermaterial mit einer Echtholzschicht. Bei einem Rahmentürblatt sind Rahmenhölzer und Füllungen gemeinsam zu beurteilen. Holz reagiert auf Veränderungen der Luftfeuchte. Das betrifft Fugenbild, Passung und Oberfläche. Konstruktion und Anschlüsse müssen diese Eigenschaft berücksichtigen, damit eine Tür im Winter nicht klemmt oder im Sommer nicht mehr ins Schloss fällt. Welche Bauart für den vorgesehenen Raum geeignet ist, sollte daher zusammen mit den örtlichen Gegebenheiten und der gewünschten Oberfl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Türblatt und die Feuchtebewegung</a:t>
            </a:r>
          </a:p>
        </p:txBody>
      </p:sp>
      <p:sp>
        <p:nvSpPr>
          <p:cNvPr id="3" name="Content Placeholder 2"/>
          <p:cNvSpPr>
            <a:spLocks noGrp="1"/>
          </p:cNvSpPr>
          <p:nvPr>
            <p:ph idx="1"/>
          </p:nvPr>
        </p:nvSpPr>
        <p:spPr/>
        <p:txBody>
          <a:bodyPr/>
          <a:lstStyle/>
          <a:p>
            <a:pPr>
              <a:defRPr sz="1800"/>
            </a:pPr>
            <a:r>
              <a:t>ächenbehandlung festgelegt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Anschlüsse vor der Bestellung dokumentieren</a:t>
            </a:r>
          </a:p>
        </p:txBody>
      </p:sp>
      <p:sp>
        <p:nvSpPr>
          <p:cNvPr id="3" name="Content Placeholder 2"/>
          <p:cNvSpPr>
            <a:spLocks noGrp="1"/>
          </p:cNvSpPr>
          <p:nvPr>
            <p:ph idx="1"/>
          </p:nvPr>
        </p:nvSpPr>
        <p:spPr/>
        <p:txBody>
          <a:bodyPr/>
          <a:lstStyle/>
          <a:p>
            <a:pPr>
              <a:defRPr sz="1800"/>
            </a:pPr>
            <a:r>
              <a:t>Vor der Bestellung gehören mehrere Angaben schriftlich festgehalten: Breite, Höhe und Tiefe der Wandöffnung an mehreren Punkten, die Aufbauhöhe der Wandverkleidung, der geplante Bodenbelag und die Sockelleiste. Der Boden liegt beim Einbau möglicherweise noch nicht auf endgültiger Höhe. Zwischen Türblatt und fertigem Boden muss deshalb ausreichend Luft bleiben. Auch das Wandmaterial ist relevant, weil Massivwand, Trockenbau und Holzständer unterschiedliche Befestigungen erfordern können. Bei Schallschutzanforderungen müssen Zarge, Dichtung und Türblatt zusammen betrachtet werden. Eine dekorative Holztür allein belegt noch keinen Schalldämmwert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Maße und Anschlüsse vor der Bestellung dokumentieren</a:t>
            </a:r>
          </a:p>
        </p:txBody>
      </p:sp>
      <p:sp>
        <p:nvSpPr>
          <p:cNvPr id="3" name="Content Placeholder 2"/>
          <p:cNvSpPr>
            <a:spLocks noGrp="1"/>
          </p:cNvSpPr>
          <p:nvPr>
            <p:ph idx="1"/>
          </p:nvPr>
        </p:nvSpPr>
        <p:spPr/>
        <p:txBody>
          <a:bodyPr/>
          <a:lstStyle/>
          <a:p>
            <a:pPr>
              <a:defRPr sz="1800"/>
            </a:pPr>
            <a: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Beschlag und angrenzende Ausbaugewerke</a:t>
            </a:r>
          </a:p>
        </p:txBody>
      </p:sp>
      <p:sp>
        <p:nvSpPr>
          <p:cNvPr id="3" name="Content Placeholder 2"/>
          <p:cNvSpPr>
            <a:spLocks noGrp="1"/>
          </p:cNvSpPr>
          <p:nvPr>
            <p:ph idx="1"/>
          </p:nvPr>
        </p:nvSpPr>
        <p:spPr/>
        <p:txBody>
          <a:bodyPr/>
          <a:lstStyle/>
          <a:p>
            <a:pPr>
              <a:defRPr sz="1800"/>
            </a:pPr>
            <a:r>
              <a:t>Bänder müssen auf das Gewicht des Türblatts und das Material der Zarge abgestimmt werden. Bei schweren Massivholzblättern können drei Bänder sinnvoll sein. Schloss, Profilzylinder oder Badriegel richten sich nach der Nutzung. Eine Dichtung am Schloss-Stulp kann die Schalldämmung verbessern; eine umlaufende Dichtung an der Zarge gehört zu einer Holztür mit Schallschutzanspruch. Drücker und Rosetten sollten zum übrigen Innenausbau passen. Auch Wandverkleidung, Sockelleiste und Bodenbelag müssen berücksichtigt werden. Bei Schiebetüren entfällt die klassische Zarge; dafür sind Schienensystem, Wandtasche und Anschluss an die Verkleidung zu klären.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Beschlag und angrenzende Ausbaugewerke</a:t>
            </a:r>
          </a:p>
        </p:txBody>
      </p:sp>
      <p:sp>
        <p:nvSpPr>
          <p:cNvPr id="3" name="Content Placeholder 2"/>
          <p:cNvSpPr>
            <a:spLocks noGrp="1"/>
          </p:cNvSpPr>
          <p:nvPr>
            <p:ph idx="1"/>
          </p:nvPr>
        </p:nvSpPr>
        <p:spPr/>
        <p:txBody>
          <a:bodyPr/>
          <a:lstStyle/>
          <a:p>
            <a:pPr>
              <a:defRPr sz="1800"/>
            </a:pPr>
            <a:r>
              <a:t> Für die weitere Vorbereitung bietet sich die [Grundlage zur Wandplanung]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Innentüren aus Massivholz in München: Zarge, Türblatt und Beschlag richtig planen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