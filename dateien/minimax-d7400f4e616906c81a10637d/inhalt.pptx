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muenchen/licht-und-holz-farbwirkung-probeanstrich/" TargetMode="External"/><Relationship Id="rId3" Type="http://schemas.openxmlformats.org/officeDocument/2006/relationships/hyperlink" Target="https://holzundhaus.github.io/holzinnenausbaumuenchen/dateien/minimax-d7400f4e616906c81a1063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und Holz: So beurteilen Sie die Farbwirkung am Muster · Erklärende Präsentation</a:t>
            </a:r>
          </a:p>
        </p:txBody>
      </p:sp>
      <p:sp>
        <p:nvSpPr>
          <p:cNvPr id="3" name="Content Placeholder 2"/>
          <p:cNvSpPr>
            <a:spLocks noGrp="1"/>
          </p:cNvSpPr>
          <p:nvPr>
            <p:ph idx="1"/>
          </p:nvPr>
        </p:nvSpPr>
        <p:spPr/>
        <p:txBody>
          <a:bodyPr/>
          <a:lstStyle/>
          <a:p>
            <a:r>
              <a:t>Überblick: Die Farbwirkung von Holz lässt sich nicht zuverlässig im Laden oder auf einem kleinen Holzmuster beurteilen. Entscheidend sind das Licht am späteren Einsatzort, der gewählte Schliff, die Oberflächenbehandlung und der vollständige Beschichtungsaufbau. Die folgende Checkliste hilft, ein Muster so zu prüfen, dass Farbton, Maserung und Glanz unter möglichst realistischen Bedingungen bewertet werden können. Sie ergänzt die detaillierte Musteranleitung um einen strukturierten Ablauf für die Freigabe.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Lichtsituationen geprüft werden sollten</a:t>
            </a:r>
          </a:p>
        </p:txBody>
      </p:sp>
      <p:sp>
        <p:nvSpPr>
          <p:cNvPr id="3" name="Content Placeholder 2"/>
          <p:cNvSpPr>
            <a:spLocks noGrp="1"/>
          </p:cNvSpPr>
          <p:nvPr>
            <p:ph idx="1"/>
          </p:nvPr>
        </p:nvSpPr>
        <p:spPr/>
        <p:txBody>
          <a:bodyPr/>
          <a:lstStyle/>
          <a:p>
            <a:pPr>
              <a:defRPr sz="1800"/>
            </a:pPr>
            <a:r>
              <a:t>Tageslicht und künstliches Licht zeigen Holz unterschiedlich. Am Morgen und am späten Nachmittag kann sich nicht nur die Helligkeit, sondern auch die Lichtfarbe ändern. Prüfen Sie das Muster deshalb mehrfach an einem festen Platz. Warmweißes Licht unter 3000 K betont eher rötliche und gelbliche Anteile, während Tageslichtweiß die Eigenfarben neutraler darstellt. Auch schwach beleuchtete Ecken, direktes Gegenlicht und die Nähe zu Fenstern gehören in die Beurteilung. So erkennen Sie, ob eine Fläche im Alltag heller, dunkler, kontrastreicher oder fleckiger wirkt.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Muster muss den späteren Aufbau abbilden</a:t>
            </a:r>
          </a:p>
        </p:txBody>
      </p:sp>
      <p:sp>
        <p:nvSpPr>
          <p:cNvPr id="3" name="Content Placeholder 2"/>
          <p:cNvSpPr>
            <a:spLocks noGrp="1"/>
          </p:cNvSpPr>
          <p:nvPr>
            <p:ph idx="1"/>
          </p:nvPr>
        </p:nvSpPr>
        <p:spPr/>
        <p:txBody>
          <a:bodyPr/>
          <a:lstStyle/>
          <a:p>
            <a:pPr>
              <a:defRPr sz="1800"/>
            </a:pPr>
            <a:r>
              <a:t>Ein aussagekräftiges Muster verwendet das vorgesehene Holz aus derselben Charge oder eine entsprechende Musterplatte. Auch Schliff, Produkt, Farbton, Glanzgrad, Anzahl der Schichten und Trockenzeiten sollten mit dem geplanten Aufbau übereinstimmen. Notieren Sie diese Angaben zusammen mit der Chargennummer. Das ist wichtig, weil bereits eine andere Körnung das Reflexionsverhalten und damit den Eindruck von Farbe und Helligkeit verändern kann. Die [detaillierte Musteranleitung](https://holzundhaus.github.io/holzinnenausbaumuenchen/licht-und-holz-farbwirkung-probeanstrich/) beschreibt, wie aus einem Probeanstrich eine nachvollziehbare Entscheidu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Muster muss den späteren Aufbau abbilden</a:t>
            </a:r>
          </a:p>
        </p:txBody>
      </p:sp>
      <p:sp>
        <p:nvSpPr>
          <p:cNvPr id="3" name="Content Placeholder 2"/>
          <p:cNvSpPr>
            <a:spLocks noGrp="1"/>
          </p:cNvSpPr>
          <p:nvPr>
            <p:ph idx="1"/>
          </p:nvPr>
        </p:nvSpPr>
        <p:spPr/>
        <p:txBody>
          <a:bodyPr/>
          <a:lstStyle/>
          <a:p>
            <a:pPr>
              <a:defRPr sz="1800"/>
            </a:pPr>
            <a:r>
              <a:t>ngsgrundlage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und wie das Muster beurteilt wird</a:t>
            </a:r>
          </a:p>
        </p:txBody>
      </p:sp>
      <p:sp>
        <p:nvSpPr>
          <p:cNvPr id="3" name="Content Placeholder 2"/>
          <p:cNvSpPr>
            <a:spLocks noGrp="1"/>
          </p:cNvSpPr>
          <p:nvPr>
            <p:ph idx="1"/>
          </p:nvPr>
        </p:nvSpPr>
        <p:spPr/>
        <p:txBody>
          <a:bodyPr/>
          <a:lstStyle/>
          <a:p>
            <a:pPr>
              <a:defRPr sz="1800"/>
            </a:pPr>
            <a:r>
              <a:t>Bringen Sie die Probe in der geplanten Wandhöhe und an einer Stelle an, an der sie später im Raum sichtbar sein soll. Berücksichtigen Sie dabei Boden, Möbel und bereits vorhandene Holzflächen. Beurteilen Sie das Muster nicht nur aus einer Position: Betrachten Sie es frontal, seitlich und aus unterschiedlichen Entfernungen. Bei hoherem Glanz können Fenster oder Leuchten sichtbar gespiegelt werden. Eine mattere Oberfläche streut das Licht breiter und wirkt im Schatten oft ruhiger. Diese Unterschiede lassen sich nur erkennen, wenn das Muster längere Zeit unter den tatsächlichen Bedingungen beobachtet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Vergleichsflächen gezielt einsetzen</a:t>
            </a:r>
          </a:p>
        </p:txBody>
      </p:sp>
      <p:sp>
        <p:nvSpPr>
          <p:cNvPr id="3" name="Content Placeholder 2"/>
          <p:cNvSpPr>
            <a:spLocks noGrp="1"/>
          </p:cNvSpPr>
          <p:nvPr>
            <p:ph idx="1"/>
          </p:nvPr>
        </p:nvSpPr>
        <p:spPr/>
        <p:txBody>
          <a:bodyPr/>
          <a:lstStyle/>
          <a:p>
            <a:pPr>
              <a:defRPr sz="1800"/>
            </a:pPr>
            <a:r>
              <a:t>Wenn die Farbwirkung nicht eindeutig ist, helfen zwei nebeneinander angebrachte Vergleichsflächen. Variieren Sie zunächst eine sinnvolle Größe, etwa den Glanzgrad oder eine zweite geeignete Holzfarbe, während Material und Aufbau möglichst gleich bleiben. So lässt sich besser erkennen, welche Änderung den Unterschied verursacht. Eine farblose Behandlung ist dabei nicht automatisch eine farbliche Veränderung: Sie kann die Eigenfarbe und die Maserung sichtbar anheben. Vermeiden Sie dagegen Muster, die nur aus einem isolierten Farbton bestehen, weil sie das Zusammenspiel von Holz, Fugenbild und Oberfläche nicht zeigen.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Freigabe praktische Fragen klären</a:t>
            </a:r>
          </a:p>
        </p:txBody>
      </p:sp>
      <p:sp>
        <p:nvSpPr>
          <p:cNvPr id="3" name="Content Placeholder 2"/>
          <p:cNvSpPr>
            <a:spLocks noGrp="1"/>
          </p:cNvSpPr>
          <p:nvPr>
            <p:ph idx="1"/>
          </p:nvPr>
        </p:nvSpPr>
        <p:spPr/>
        <p:txBody>
          <a:bodyPr/>
          <a:lstStyle/>
          <a:p>
            <a:pPr>
              <a:defRPr sz="1800"/>
            </a:pPr>
            <a:r>
              <a:t>Neben der Optik müssen Belastung, Pflege und Anschlussdetails berücksichtigt werden. Fragen Sie, ob die Fläche mit Wasser, Reinigungsmitteln oder häufiger Berührung beansprucht wird, welche Altbeschichtung vorhanden ist und wann die neue Oberfläche voll belastbar ist. Berücksichtigen Sie außerdem die Übergänge zu Steckdosen, Lichtschaltern oder Heizkörpern. Erst wenn Farbe, Glanz und Haptik überzeugen und diese funktionalen Punkte geklärt sind, kann die Musterfläche freigegeben werden. Für die Auswahl zwischen Öl, Lasur und Lack bietet der [Ratgeber zu Holzölen oder Lackierungen](https://www.holzinnenausbaumuenchen.de/ratgeber/holz-oelen-oder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Freigabe praktische Fragen klären</a:t>
            </a:r>
          </a:p>
        </p:txBody>
      </p:sp>
      <p:sp>
        <p:nvSpPr>
          <p:cNvPr id="3" name="Content Placeholder 2"/>
          <p:cNvSpPr>
            <a:spLocks noGrp="1"/>
          </p:cNvSpPr>
          <p:nvPr>
            <p:ph idx="1"/>
          </p:nvPr>
        </p:nvSpPr>
        <p:spPr/>
        <p:txBody>
          <a:bodyPr/>
          <a:lstStyle/>
          <a:p>
            <a:pPr>
              <a:defRPr sz="1800"/>
            </a:pPr>
            <a:r>
              <a:t>-lackieren/) eine ergänzende Grundlage.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Licht und Holz: So beurteilen Sie die Farbwirkung am Muster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