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innenausbaumuenchen/holzregale-wandborde-befestigung-eckloesungen/" TargetMode="External"/><Relationship Id="rId3" Type="http://schemas.openxmlformats.org/officeDocument/2006/relationships/hyperlink" Target="https://holzundhaus.github.io/holzinnenausbaumuenchen/dateien/minimax-1b4f7fb422c44a748da21e2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Holzregale und Wandborde: Befestigung, Last und Ecklösungen im Innenausbau · Erklärende Präsentation</a:t>
            </a:r>
          </a:p>
        </p:txBody>
      </p:sp>
      <p:sp>
        <p:nvSpPr>
          <p:cNvPr id="3" name="Content Placeholder 2"/>
          <p:cNvSpPr>
            <a:spLocks noGrp="1"/>
          </p:cNvSpPr>
          <p:nvPr>
            <p:ph idx="1"/>
          </p:nvPr>
        </p:nvSpPr>
        <p:spPr/>
        <p:txBody>
          <a:bodyPr/>
          <a:lstStyle/>
          <a:p>
            <a:r>
              <a:t>Überblick: Ein Holzregal wirkt schnell wie eine einfache Montageaufgabe. Tatsächlich entscheiden Untergrund, Befestigung, Auskragung und erwartete Last gemeinsam darüber, ob das Bord dauerhaft sicher sitzt und seine Form behält. Dieser Beitrag bietet einen praxisnahen Planungsablauf für punktuell belastete Wandregale und grenzt sie zugleich von einer flächigen Holz-Wandverkleidung 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vor der Befestigung einschätzen</a:t>
            </a:r>
          </a:p>
        </p:txBody>
      </p:sp>
      <p:sp>
        <p:nvSpPr>
          <p:cNvPr id="3" name="Content Placeholder 2"/>
          <p:cNvSpPr>
            <a:spLocks noGrp="1"/>
          </p:cNvSpPr>
          <p:nvPr>
            <p:ph idx="1"/>
          </p:nvPr>
        </p:nvSpPr>
        <p:spPr/>
        <p:txBody>
          <a:bodyPr/>
          <a:lstStyle/>
          <a:p>
            <a:pPr>
              <a:defRPr sz="1800"/>
            </a:pPr>
            <a:r>
              <a:t>Zur Last eines Wandregals gehören das Eigengewicht des Bretts, die Konsolen und der spätere Inhalt. Bücher, Aktenordner oder Geschirr erzeugen eine gleichmäßige Flächenlast. Ein Lautsprecher, eine schwere Pflanze oder ein einzelner Gegenstand wirkt dagegen als Punktlast. Beide Fälle verlangen unterschiedliche Abstände und Materialstärken. Bei einem auskragenden Brett kommt der Hebelarm hinzu: Eine größere Tiefe und schwerere Inhalte erhöhen die Zug- und Abscherbelastung der Befestigung. Das visible Durchbiegen eines zu langen oder zu dünnen Bretts ist dabei nicht automatisch ein Dübelproblem, sondern oft ein Problem der Konstruktion. Material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vor der Befestigung einschätzen</a:t>
            </a:r>
          </a:p>
        </p:txBody>
      </p:sp>
      <p:sp>
        <p:nvSpPr>
          <p:cNvPr id="3" name="Content Placeholder 2"/>
          <p:cNvSpPr>
            <a:spLocks noGrp="1"/>
          </p:cNvSpPr>
          <p:nvPr>
            <p:ph idx="1"/>
          </p:nvPr>
        </p:nvSpPr>
        <p:spPr/>
        <p:txBody>
          <a:bodyPr/>
          <a:lstStyle/>
          <a:p>
            <a:pPr>
              <a:defRPr sz="1800"/>
            </a:pPr>
            <a:r>
              <a:t>stärke, Konsolentyp und Konsolenabstand sollten deshalb gemeinsam festgelegt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tragfähigen Untergrund ermitteln</a:t>
            </a:r>
          </a:p>
        </p:txBody>
      </p:sp>
      <p:sp>
        <p:nvSpPr>
          <p:cNvPr id="3" name="Content Placeholder 2"/>
          <p:cNvSpPr>
            <a:spLocks noGrp="1"/>
          </p:cNvSpPr>
          <p:nvPr>
            <p:ph idx="1"/>
          </p:nvPr>
        </p:nvSpPr>
        <p:spPr/>
        <p:txBody>
          <a:bodyPr/>
          <a:lstStyle/>
          <a:p>
            <a:pPr>
              <a:defRPr sz="1800"/>
            </a:pPr>
            <a:r>
              <a:t>Tapete, Putz oder eine sichtbare Holzbeplankung sagen wenig über die Tragfähigkeit einer Wand aus. In Beton und Vollziegel können je nach Befestigungssystem Kunststoffdübel mit passender Schraube eingesetzt werden; Bohrlochdurchmesser, Tiefe und Anziehdrehmoment müssen zum Produkt passen. In Hohlblocksteinen und Porenbeton sind gewöhnliche Spreizdübel häufig nicht geeignet. Injektionsanker, Dübel mit erweiterter Spreizzone oder Durchgangsbefestigungen können hier geeigneter sein. Bei Gipskarton- und leichten Holzwänden entscheidet in der Regel die Traghölzer- oder Profilachse über die Befestigung, nicht die sichtbare Beplankung. Besonders in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tragfähigen Untergrund ermitteln</a:t>
            </a:r>
          </a:p>
        </p:txBody>
      </p:sp>
      <p:sp>
        <p:nvSpPr>
          <p:cNvPr id="3" name="Content Placeholder 2"/>
          <p:cNvSpPr>
            <a:spLocks noGrp="1"/>
          </p:cNvSpPr>
          <p:nvPr>
            <p:ph idx="1"/>
          </p:nvPr>
        </p:nvSpPr>
        <p:spPr/>
        <p:txBody>
          <a:bodyPr/>
          <a:lstStyle/>
          <a:p>
            <a:pPr>
              <a:defRPr sz="1800"/>
            </a:pPr>
            <a:r>
              <a:t>Bestandsbauten sollte der Wandaufbau geprüft werden, weil hinter der Oberfläche Hohlräume, Lattung oder Schüttungen liegen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Konsolen und Abstände miteinander abstimmen</a:t>
            </a:r>
          </a:p>
        </p:txBody>
      </p:sp>
      <p:sp>
        <p:nvSpPr>
          <p:cNvPr id="3" name="Content Placeholder 2"/>
          <p:cNvSpPr>
            <a:spLocks noGrp="1"/>
          </p:cNvSpPr>
          <p:nvPr>
            <p:ph idx="1"/>
          </p:nvPr>
        </p:nvSpPr>
        <p:spPr/>
        <p:txBody>
          <a:bodyPr/>
          <a:lstStyle/>
          <a:p>
            <a:pPr>
              <a:defRPr sz="1800"/>
            </a:pPr>
            <a:r>
              <a:t>Die Tragfähigkeit einer Konsole wird für eine bestimmte Lastrichtung, Befestigungsart und Ausführung angegeben. Diese Angaben sollten mit der geplanten Belastung abgeglichen werden. Zwei geeignete Befestigungspunkte können eine Last anders verteilen als einzelne Schrauben, sofern der Untergrund dies zulässt. Der Abstand zwischen den Konsolen beeinflusst die Durchbiegung des Brettes: Zu große Abstände belasten es stärker, unnötig viele Befestigungen verursachen zusätzliche Bohrungen. Auch die Tiefe des Regals ist entscheidend, weil jede weitere Auskragung den Hebel vergrößert. Bei schweren oder weit auskragenden Bretten können durchgehende Sch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Konsolen und Abstände miteinander abstimmen</a:t>
            </a:r>
          </a:p>
        </p:txBody>
      </p:sp>
      <p:sp>
        <p:nvSpPr>
          <p:cNvPr id="3" name="Content Placeholder 2"/>
          <p:cNvSpPr>
            <a:spLocks noGrp="1"/>
          </p:cNvSpPr>
          <p:nvPr>
            <p:ph idx="1"/>
          </p:nvPr>
        </p:nvSpPr>
        <p:spPr/>
        <p:txBody>
          <a:bodyPr/>
          <a:lstStyle/>
          <a:p>
            <a:pPr>
              <a:defRPr sz="1800"/>
            </a:pPr>
            <a:r>
              <a:t>ienen, Wandlaschen oder mehrere eng gesetzte Konsolen geeigneter sein. Die Auswahl sollte nicht allein nach dem sichtbaren Material erfolgen.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Leitungen und unbekannte Schichten prüfen</a:t>
            </a:r>
          </a:p>
        </p:txBody>
      </p:sp>
      <p:sp>
        <p:nvSpPr>
          <p:cNvPr id="3" name="Content Placeholder 2"/>
          <p:cNvSpPr>
            <a:spLocks noGrp="1"/>
          </p:cNvSpPr>
          <p:nvPr>
            <p:ph idx="1"/>
          </p:nvPr>
        </p:nvSpPr>
        <p:spPr/>
        <p:txBody>
          <a:bodyPr/>
          <a:lstStyle/>
          <a:p>
            <a:pPr>
              <a:defRPr sz="1800"/>
            </a:pPr>
            <a:r>
              <a:t>Vor jeder Bohrung gehören Leitungen und mögliche Hohlräume berücksichtigt. Elektroleitungen, Wasserrohre und Lüftungskanäle können in einer Innenwand liegen, ohne direkt erkennbar zu sein. Ein Leitungssuchgerät ist deshalb Teil der Vorbereitung. Das gilt besonders bei auskragenden Konsolen, weil deren Bohrlöcher mehrere Zentimeter in die Wand reichen können. Ein erster Probebohrschuss ist kein zuverlässiges Erkennungsverfahren. Wenn der Aufbau nicht eindeutig feststeht, sollte die Wand vor der Montage geöffnet oder durch den Fachbetrieb eingeschätzt werden. Auch die gewünschte Demontierbarkeit ist relevant: Eine Befestigung in der Unterkonstr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Leitungen und unbekannte Schichten prüfen</a:t>
            </a:r>
          </a:p>
        </p:txBody>
      </p:sp>
      <p:sp>
        <p:nvSpPr>
          <p:cNvPr id="3" name="Content Placeholder 2"/>
          <p:cNvSpPr>
            <a:spLocks noGrp="1"/>
          </p:cNvSpPr>
          <p:nvPr>
            <p:ph idx="1"/>
          </p:nvPr>
        </p:nvSpPr>
        <p:spPr/>
        <p:txBody>
          <a:bodyPr/>
          <a:lstStyle/>
          <a:p>
            <a:pPr>
              <a:defRPr sz="1800"/>
            </a:pPr>
            <a:r>
              <a:t>uktion kann andere Rückstände hinterlassen als ein sichtbarer Dübel.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Ecken, Kanten und Anschlüsse vorab zeichnen</a:t>
            </a:r>
          </a:p>
        </p:txBody>
      </p:sp>
      <p:sp>
        <p:nvSpPr>
          <p:cNvPr id="3" name="Content Placeholder 2"/>
          <p:cNvSpPr>
            <a:spLocks noGrp="1"/>
          </p:cNvSpPr>
          <p:nvPr>
            <p:ph idx="1"/>
          </p:nvPr>
        </p:nvSpPr>
        <p:spPr/>
        <p:txBody>
          <a:bodyPr/>
          <a:lstStyle/>
          <a:p>
            <a:pPr>
              <a:defRPr sz="1800"/>
            </a:pPr>
            <a:r>
              <a:t>Ecklösungen werden nicht erst am fertigen Regal sichtbar. An einer Innenecke können schräge Anschitte, ein Eckprofil oder ein bewusst sichtbarer Stoß die gewünschte Linie erzeugen. Entscheidend sind dabei Wandwinkel, Wandtoleranzen und Materialstärke. An einer Außenecke ist die Stirnkante dauerhaft sichtbar und stärker beansprucht; Massivholzkanten oder ein umlaufendes Abschlussprofil können entsprechend stabiler ausgeführt werden als eine reine Furnierkante. Auch Übergänge zu Sockelleisten, Decken, Steckdosen oder einer bestehenden Holz-Wandverkleidung sollten in der Planung liegen. Wer Aufbauhöhe, Unterkonstruktion und Befestigung gemeinsam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Ecken, Kanten und Anschlüsse vorab zeichnen</a:t>
            </a:r>
          </a:p>
        </p:txBody>
      </p:sp>
      <p:sp>
        <p:nvSpPr>
          <p:cNvPr id="3" name="Content Placeholder 2"/>
          <p:cNvSpPr>
            <a:spLocks noGrp="1"/>
          </p:cNvSpPr>
          <p:nvPr>
            <p:ph idx="1"/>
          </p:nvPr>
        </p:nvSpPr>
        <p:spPr/>
        <p:txBody>
          <a:bodyPr/>
          <a:lstStyle/>
          <a:p>
            <a:pPr>
              <a:defRPr sz="1800"/>
            </a:pPr>
            <a:r>
              <a:t> festlegt, verringert doppelte Arbeit und vermeidet Entscheidungen am halbfertigen Bauteil.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 belastbare Entscheidung</a:t>
            </a:r>
          </a:p>
        </p:txBody>
      </p:sp>
      <p:sp>
        <p:nvSpPr>
          <p:cNvPr id="3" name="Content Placeholder 2"/>
          <p:cNvSpPr>
            <a:spLocks noGrp="1"/>
          </p:cNvSpPr>
          <p:nvPr>
            <p:ph idx="1"/>
          </p:nvPr>
        </p:nvSpPr>
        <p:spPr/>
        <p:txBody>
          <a:bodyPr/>
          <a:lstStyle/>
          <a:p>
            <a:pPr>
              <a:defRPr sz="1800"/>
            </a:pPr>
            <a:r>
              <a:t>Vor der Bestellung lassen sich die wichtigsten Fragen in einer kurzen Reihenfolge klären: Welcher Untergrund liegt vor, wo befinden sich Leitungen und Befestigungsachsen? Welche Flächenlast und welche Punktlast sind möglich? Welche Tragfähigkeit geben Hersteller für die gewählte Konsole in der vorgesehenen Lastrichtung an? Wie breit, dick und tief darf das Brett nach diesen Anforderungen ausfallen? Welche Konsolenabstände sind erforderlich, und wie werden Kanten, Ecken, Steckdosen sowie angrenzende Wandaufbauten angeschlossen? Sind Last, Untergrund oder Eckausführung ungeklärt, sollte die Frage vor der Bohrung mit einem Fachbetrieb geklärt we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 belastbare Entscheidung</a:t>
            </a:r>
          </a:p>
        </p:txBody>
      </p:sp>
      <p:sp>
        <p:nvSpPr>
          <p:cNvPr id="3" name="Content Placeholder 2"/>
          <p:cNvSpPr>
            <a:spLocks noGrp="1"/>
          </p:cNvSpPr>
          <p:nvPr>
            <p:ph idx="1"/>
          </p:nvPr>
        </p:nvSpPr>
        <p:spPr/>
        <p:txBody>
          <a:bodyPr/>
          <a:lstStyle/>
          <a:p>
            <a:pPr>
              <a:defRPr sz="1800"/>
            </a:pPr>
            <a:r>
              <a:t>rden.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Holzregale und Wandborde: Befestigung, Last und Ecklösungen im Innenausbau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