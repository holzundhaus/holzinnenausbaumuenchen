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innenausbaumuenchen.wordpress.com/2026/10/29/holzflaechen-sonnige-waende-uv-stabilitaet-verformung/" TargetMode="External"/><Relationship Id="rId3" Type="http://schemas.openxmlformats.org/officeDocument/2006/relationships/hyperlink" Target="https://holzundhaus.github.io/holzinnenausbaumuenchen/dateien/minimax-d355f81fbf4d01120225306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Holzflächen an sonnigen Wänden: Form- und Farbstabilität im Innenraum · Erklärende Präsentation</a:t>
            </a:r>
          </a:p>
        </p:txBody>
      </p:sp>
      <p:sp>
        <p:nvSpPr>
          <p:cNvPr id="3" name="Content Placeholder 2"/>
          <p:cNvSpPr>
            <a:spLocks noGrp="1"/>
          </p:cNvSpPr>
          <p:nvPr>
            <p:ph idx="1"/>
          </p:nvPr>
        </p:nvSpPr>
        <p:spPr/>
        <p:txBody>
          <a:bodyPr/>
          <a:lstStyle/>
          <a:p>
            <a:r>
              <a:t>Überblick: Holzflächen an sonnigen Wänden brauchen mehr als eine Entscheidung zwischen Öl, Hartwachsöl und Lack. Direkte Sonne bringt sowohl UV-Licht als auch Wärme auf das Holz. Entscheidend ist deshalb, wie Holzart, Träger, Klebstoff, Oberflächenaufbau, Abstand zur Fensterscheibe und Pflegeweg zusammenspielen. Der folgende Leitfaden zeigt, welche Fragen vor der Montage geklärt werden sollten und worauf bei Materialfreigabe und späterer Kontrolle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Sonne Holz verändert</a:t>
            </a:r>
          </a:p>
        </p:txBody>
      </p:sp>
      <p:sp>
        <p:nvSpPr>
          <p:cNvPr id="3" name="Content Placeholder 2"/>
          <p:cNvSpPr>
            <a:spLocks noGrp="1"/>
          </p:cNvSpPr>
          <p:nvPr>
            <p:ph idx="1"/>
          </p:nvPr>
        </p:nvSpPr>
        <p:spPr/>
        <p:txBody>
          <a:bodyPr/>
          <a:lstStyle/>
          <a:p>
            <a:pPr>
              <a:defRPr sz="1800"/>
            </a:pPr>
            <a:r>
              <a:t>Hinter Glas treffen Holzoberflächen neben sichtbarem Licht auch Wärme und einen UV-Anteil. Das UV-Licht kann die Eigenfarbe des Holzes beeinflussen und Pigmente oder Bindemittel verändern. Gleichzeitig heizt sich die Luftschicht vor der Scheibe auf. Das Holz nimmt diese Temperatur an und reagiert stärker auf wechselnde Belastungen als an einer schattigen Wand. Für die Planung bedeutet das: Farbveränderungen und Verformungen sind nicht ausschließlich eine Frage der Optik, sondern auch eine Folge des gesamten Aufbaus.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und Aufbau gemeinsam bewerten</a:t>
            </a:r>
          </a:p>
        </p:txBody>
      </p:sp>
      <p:sp>
        <p:nvSpPr>
          <p:cNvPr id="3" name="Content Placeholder 2"/>
          <p:cNvSpPr>
            <a:spLocks noGrp="1"/>
          </p:cNvSpPr>
          <p:nvPr>
            <p:ph idx="1"/>
          </p:nvPr>
        </p:nvSpPr>
        <p:spPr/>
        <p:txBody>
          <a:bodyPr/>
          <a:lstStyle/>
          <a:p>
            <a:pPr>
              <a:defRPr sz="1800"/>
            </a:pPr>
            <a:r>
              <a:t>Ein Vollholzprofil reagiert stärker auf Feuchtewechsel als ein furnierter Holzwerkstoff. Eine dicke Massivholzplatte verzieht sich anders als ein schmales Brett. Auch Klebstoffe und Träger können auf Wärme und Feuchte unterschiedlich reagieren. Deshalb sollte die Materialangabe nicht nur die Holzart umfassen, sondern auch Furnier oder Massivholz, Träger, Verklebung und Oberflächenaufbau. Bei transparenten Oberflächen wird die Eigenfarbe sichtbar. Helle Hölzer wie Buche, Ahorn oder Esche reagieren optisch deutlicher als dunklere Holzarten. Ein Furnier kann zudem weniger Materialabtrag vertragen, wenn die Fläche später überarbeitet werden muss.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Abstand zur Scheibe und Anschlüsse prüfen</a:t>
            </a:r>
          </a:p>
        </p:txBody>
      </p:sp>
      <p:sp>
        <p:nvSpPr>
          <p:cNvPr id="3" name="Content Placeholder 2"/>
          <p:cNvSpPr>
            <a:spLocks noGrp="1"/>
          </p:cNvSpPr>
          <p:nvPr>
            <p:ph idx="1"/>
          </p:nvPr>
        </p:nvSpPr>
        <p:spPr/>
        <p:txBody>
          <a:bodyPr/>
          <a:lstStyle/>
          <a:p>
            <a:pPr>
              <a:defRPr sz="1800"/>
            </a:pPr>
            <a:r>
              <a:t>Die Luft zwischen Glas und Holz wirkt als Puffer. Je geringer der Abstand, desto schwieriger kann sich die warme Luftschicht abkühlen. Ein Luftspalt von wenigen Zentimetern kann die Temperatur auf der Holzoberfläche reduzieren; belastbare Pauschalwerte lassen sich daraus jedoch nicht ableiten. Die tatsächliche Aufbauhöhe muss im konkreten Einzelfall geplant werden. Wichtig ist außerdem, ob die Luft zirkulieren kann oder als stehende Wärmefalle wirkt. Obere und untere Abschlüsse gehören ebenso zur Betrachtung wie der Fenstersims. Dunkle Simse können sich zusätzlich aufheizen und Wärme an angrenzendes Holz abgeben. Bei der Planung von Aufbau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Abstand zur Scheibe und Anschlüsse prüfen</a:t>
            </a:r>
          </a:p>
        </p:txBody>
      </p:sp>
      <p:sp>
        <p:nvSpPr>
          <p:cNvPr id="3" name="Content Placeholder 2"/>
          <p:cNvSpPr>
            <a:spLocks noGrp="1"/>
          </p:cNvSpPr>
          <p:nvPr>
            <p:ph idx="1"/>
          </p:nvPr>
        </p:nvSpPr>
        <p:spPr/>
        <p:txBody>
          <a:bodyPr/>
          <a:lstStyle/>
          <a:p>
            <a:pPr>
              <a:defRPr sz="1800"/>
            </a:pPr>
            <a:r>
              <a:t>d Anschlüssen hilft der weiterführende Ratgeber.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Finish und Muster im Real-Licht beurteilen</a:t>
            </a:r>
          </a:p>
        </p:txBody>
      </p:sp>
      <p:sp>
        <p:nvSpPr>
          <p:cNvPr id="3" name="Content Placeholder 2"/>
          <p:cNvSpPr>
            <a:spLocks noGrp="1"/>
          </p:cNvSpPr>
          <p:nvPr>
            <p:ph idx="1"/>
          </p:nvPr>
        </p:nvSpPr>
        <p:spPr/>
        <p:txBody>
          <a:bodyPr/>
          <a:lstStyle/>
          <a:p>
            <a:pPr>
              <a:defRPr sz="1800"/>
            </a:pPr>
            <a:r>
              <a:t>Für sonnennahe Flächen ist nicht automatisch ein anderes Oberflächensystem erforderlich. Pigmentierte Öle und Lasuren können einen Teil des UV-Anteils filtern, verändern aber die Eigenfarbe des Holzes. Ein geschlossener Lackfilm schützt den Untergrund, kann bei Wärme jedoch stärker arbeiten als ein offenporiger Aufbau. Beschichtungen sollten deshalb nicht nur nach dem Raumgefühl ausgewählt werden. Entscheidend ist außerdem, wie das Material im tatsächlichen Tageslicht wirkt. Eine Probefläche gehört an den vorgesehenen Ort und sollte bei direkter Sonne sowie bei bedecktem Himmel beurteilt werden. Im Arbeitslicht kann eine Fläche neutral ersche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Finish und Muster im Real-Licht beurteilen</a:t>
            </a:r>
          </a:p>
        </p:txBody>
      </p:sp>
      <p:sp>
        <p:nvSpPr>
          <p:cNvPr id="3" name="Content Placeholder 2"/>
          <p:cNvSpPr>
            <a:spLocks noGrp="1"/>
          </p:cNvSpPr>
          <p:nvPr>
            <p:ph idx="1"/>
          </p:nvPr>
        </p:nvSpPr>
        <p:spPr/>
        <p:txBody>
          <a:bodyPr/>
          <a:lstStyle/>
          <a:p>
            <a:pPr>
              <a:defRPr sz="1800"/>
            </a:pPr>
            <a:r>
              <a:t>inen, während sie bei tief stehender Sonne gelblich oder rötlich wirkt. Die Unterschiede zwischen Öl, Hartwachsöl und Lack erläutert der Hauptartikel zum Thema.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Nachkontrolle einplanen</a:t>
            </a:r>
          </a:p>
        </p:txBody>
      </p:sp>
      <p:sp>
        <p:nvSpPr>
          <p:cNvPr id="3" name="Content Placeholder 2"/>
          <p:cNvSpPr>
            <a:spLocks noGrp="1"/>
          </p:cNvSpPr>
          <p:nvPr>
            <p:ph idx="1"/>
          </p:nvPr>
        </p:nvSpPr>
        <p:spPr/>
        <p:txBody>
          <a:bodyPr/>
          <a:lstStyle/>
          <a:p>
            <a:pPr>
              <a:defRPr sz="1800"/>
            </a:pPr>
            <a:r>
              <a:t>Reparaturen an transparenten Aufbauten bleiben an stark besonnten Flächen häufig als Glanz- oder Tonwertunterschied erkennbar. Diese Erwartung sollte vor der Materialfreigabe geklärt sein. Nach der ersten Heizphase im Sommer bietet sich eine erste Sichtkontrolle an. Farbveränderungen und kleine Verformungen lassen sich dann dokumentieren, damit eine gezielte Auffrischung möglich ist, ohne die gesamte Fläche neu zu überarbeiten. Pflegeprodukte und Reiniger müssen zum vorhandenen Aufbau passen. Stehendes Wasser, aggressive Mittel oder unbekannte Wachse können einen bereits belasteten Film zusätzlich schädigen. Pflegeintervall, verwendetes Produ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Nachkontrolle einplanen</a:t>
            </a:r>
          </a:p>
        </p:txBody>
      </p:sp>
      <p:sp>
        <p:nvSpPr>
          <p:cNvPr id="3" name="Content Placeholder 2"/>
          <p:cNvSpPr>
            <a:spLocks noGrp="1"/>
          </p:cNvSpPr>
          <p:nvPr>
            <p:ph idx="1"/>
          </p:nvPr>
        </p:nvSpPr>
        <p:spPr/>
        <p:txBody>
          <a:bodyPr/>
          <a:lstStyle/>
          <a:p>
            <a:pPr>
              <a:defRPr sz="1800"/>
            </a:pPr>
            <a:r>
              <a:t>kt und Zuständigkeit sollten deshalb vor der Montage feststehen und nicht erst nach einem Schadensfall geklärt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Holzflächen an sonnigen Wänden: Form- und Farbstabilität im Innenraum</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